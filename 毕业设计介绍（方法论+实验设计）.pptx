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  <p:sldMasterId id="2147483701" r:id="rId2"/>
  </p:sldMasterIdLst>
  <p:notesMasterIdLst>
    <p:notesMasterId r:id="rId9"/>
  </p:notesMasterIdLst>
  <p:sldIdLst>
    <p:sldId id="256" r:id="rId3"/>
    <p:sldId id="288" r:id="rId4"/>
    <p:sldId id="1233" r:id="rId5"/>
    <p:sldId id="297" r:id="rId6"/>
    <p:sldId id="1234" r:id="rId7"/>
    <p:sldId id="1237" r:id="rId8"/>
  </p:sldIdLst>
  <p:sldSz cx="12192000" cy="6858000"/>
  <p:notesSz cx="6858000" cy="9144000"/>
  <p:defaultTextStyle>
    <a:defPPr>
      <a:defRPr lang="en-MY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9DA32-6C32-4680-9022-7DD6DC22A13F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1EA45-A6FE-48AC-9A03-2DC035F356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00101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professors.</a:t>
            </a:r>
            <a:endParaRPr lang="zh-CN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Huan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matric number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24100710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supervised by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Dr. Ng Wei Chien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I will present my graduation research titled:</a:t>
            </a:r>
            <a:endParaRPr lang="zh-CN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Hybrid White-Box and Black-Box Framework for Profitability Prediction Using Financial and Textual Data.”</a:t>
            </a:r>
            <a:endParaRPr lang="zh-CN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examines whether </a:t>
            </a:r>
            <a:r>
              <a:rPr lang="en-US" altLang="zh-CN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MD&amp;A textual information provides real incremental value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beyond traditional financial ratios, and how interpretability can be maintained in machine learning models.</a:t>
            </a:r>
            <a:endParaRPr lang="zh-CN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1EA45-A6FE-48AC-9A03-2DC035F35647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513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USM log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42875"/>
            <a:ext cx="204046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" y="6500814"/>
            <a:ext cx="11334751" cy="357187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0" y="6500814"/>
            <a:ext cx="762000" cy="357187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714375"/>
            <a:ext cx="2286000" cy="7143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714375"/>
            <a:ext cx="1619251" cy="7143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6357939"/>
            <a:ext cx="11334751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1432A-07EE-4B16-BF5A-B0C00CF946C5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E4CC7-71C4-43A2-A727-A4D2CF4D15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23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5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477531" cy="857208"/>
          </a:xfrm>
        </p:spPr>
        <p:txBody>
          <a:bodyPr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12D0F-5CDC-41B2-9F24-8C8996DDAA62}" type="datetime1">
              <a:rPr lang="en-US" smtClean="0"/>
              <a:t>12/30/2025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E4CC7-71C4-43A2-A727-A4D2CF4D15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324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5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C80F5-06E4-437B-97A8-2D6E8407193C}" type="datetime1">
              <a:rPr lang="en-US" smtClean="0"/>
              <a:t>12/30/2025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E4CC7-71C4-43A2-A727-A4D2CF4D15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057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3572B-06E4-4A21-BF23-DE209EDC468E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55C93-57AE-46B0-81B6-E9291BCE0C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60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8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426DD-895F-40FE-880A-AD2668C213C0}" type="datetime1">
              <a:rPr lang="en-US" smtClean="0"/>
              <a:t>12/30/2025</a:t>
            </a:fld>
            <a:endParaRPr lang="en-US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B20ED1-E435-42A6-9B9F-EF1B94994C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563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4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05098-1BC0-4CA1-ACDF-4CD158786B35}" type="datetime1">
              <a:rPr lang="en-US" smtClean="0"/>
              <a:t>12/30/2025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C8F110-EC5E-46D1-9D46-3ED388F0E9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27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3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27773D-29C8-4A71-8597-E49B1AC6CAFF}" type="datetime1">
              <a:rPr lang="en-US" smtClean="0"/>
              <a:t>12/30/2025</a:t>
            </a:fld>
            <a:endParaRPr lang="en-MY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8E4CC7-71C4-43A2-A727-A4D2CF4D15C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8588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03D6B-3248-45B3-B532-079855634E39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4B208-470D-488A-A5B2-1EC1F5D251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4062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DCF9D-1A6F-4677-9DB7-7337417F6743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049ED-7180-4081-ABC8-30B6D16668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19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5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 sz="24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2F51F-9F9E-4398-A3DD-2D2BDB5E7FA4}" type="datetime1">
              <a:rPr lang="en-US" smtClean="0"/>
              <a:t>12/30/2025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C3966-BE24-4C8D-A2ED-669A79A10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15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29844-366F-41B4-9FBB-D9678850D7AE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00525-2469-4CE8-9616-183C8B6B8B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569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USM log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42875"/>
            <a:ext cx="204046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" y="6500814"/>
            <a:ext cx="11334751" cy="357187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0" y="6500814"/>
            <a:ext cx="762000" cy="357187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714375"/>
            <a:ext cx="2286000" cy="7143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714375"/>
            <a:ext cx="1619251" cy="7143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6357939"/>
            <a:ext cx="11334751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DEDF69-4E7A-4693-8848-FFB7BDCCE6D9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3E02E-AED5-4CDD-9D81-9BD4860C3C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030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5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477531" cy="857208"/>
          </a:xfrm>
        </p:spPr>
        <p:txBody>
          <a:bodyPr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01B7C-88AA-4A6B-82F9-0276A00F4138}" type="datetime1">
              <a:rPr lang="en-US" smtClean="0"/>
              <a:t>12/30/2025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CD353-B27D-4CB5-ADB4-569DB7EBD9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676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5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8D6B7-418C-4FF2-A187-D086ABB079FA}" type="datetime1">
              <a:rPr lang="en-US" smtClean="0"/>
              <a:t>12/30/2025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8D9495-2D64-4AAE-A477-F0330D1FF1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964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CAF7E-900F-4729-A149-262DABCDF04E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7A41F-A484-4510-B33D-B77068DB3D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202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8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03EF4-654D-4785-91F4-7D47D667B1FB}" type="datetime1">
              <a:rPr lang="en-US" smtClean="0"/>
              <a:t>12/30/2025</a:t>
            </a:fld>
            <a:endParaRPr lang="en-US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B1086-DA3E-45B9-A074-923E9F3412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939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4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D5928-F25E-4013-A8DE-33616BB6777C}" type="datetime1">
              <a:rPr lang="en-US" smtClean="0"/>
              <a:t>12/30/2025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CE280-EC46-4035-98FD-8359A767C9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1646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3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F12E2-8BDF-43C9-A547-C6DD747BBCF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D131B-5877-4519-9953-6A8DFC870D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3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70C5E-CD7C-4F0A-9EBA-5447E5EE5E55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E7F6D-BDF8-4104-90EF-CCBE911214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955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E2CA2-9F74-4935-99A6-01E92C723685}" type="datetime1">
              <a:rPr lang="en-US" smtClean="0"/>
              <a:t>12/30/2025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9C068-8EE8-483D-9B0C-ACE4B9D92C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191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10477500" cy="857250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5" name="Picture 7" descr="USM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1" y="142876"/>
            <a:ext cx="98636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572751" y="0"/>
            <a:ext cx="285749" cy="85725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858501" y="642939"/>
            <a:ext cx="1333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 i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lead</a:t>
            </a:r>
            <a:endParaRPr lang="ms-MY" altLang="en-US" sz="1200" i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928689"/>
            <a:ext cx="10858500" cy="714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ms-MY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6DA08-2138-4312-8A3D-EF9A7AA464A1}" type="datetime1">
              <a:rPr lang="en-US" smtClean="0"/>
              <a:t>12/30/2025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1081D4-9621-4CA5-B916-C5BF638F7B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601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233D6-86FA-4427-A642-1EF84FD96944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C86FD-7478-4601-A32C-C53AA67853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013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MY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A2BA3063-FB6D-4A2C-A6A9-965BF7BCAC83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2500997-D725-4CFC-B943-5D8BE35988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16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>
      <p:transition spd="med">
        <p:fade/>
      </p:transition>
    </mc:Fallback>
  </mc:AlternateConten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MY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502D5FB3-0076-43CB-9E06-942D0EC7A2FD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7563444-92D1-4CE7-8728-7FE7DE443F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07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ACA127DD-3A88-4DF2-B024-084A6C901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79713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C717A36-ACF2-434D-8BE0-4409B57C773A}"/>
              </a:ext>
            </a:extLst>
          </p:cNvPr>
          <p:cNvSpPr txBox="1">
            <a:spLocks/>
          </p:cNvSpPr>
          <p:nvPr/>
        </p:nvSpPr>
        <p:spPr bwMode="auto">
          <a:xfrm>
            <a:off x="708024" y="1520825"/>
            <a:ext cx="10699781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0066"/>
                </a:solidFill>
              </a:rPr>
              <a:t>A Hybrid White-Box and Black-Box Framework for Profitability </a:t>
            </a:r>
            <a:r>
              <a:rPr lang="en-US" altLang="zh-CN" sz="4000" b="1">
                <a:solidFill>
                  <a:srgbClr val="000066"/>
                </a:solidFill>
              </a:rPr>
              <a:t>Prediction Using Financial and Textual Data </a:t>
            </a:r>
            <a:endParaRPr lang="en-MY" altLang="en-US" sz="4000" b="1" dirty="0">
              <a:solidFill>
                <a:srgbClr val="000066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D0649A2-166D-45BE-AA28-299A2C9DD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934" y="3206589"/>
            <a:ext cx="448796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3600" dirty="0">
              <a:ea typeface="MS PGothic" panose="020B0600070205080204" pitchFamily="34" charset="-128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>
                <a:ea typeface="MS PGothic" panose="020B0600070205080204" pitchFamily="34" charset="-128"/>
              </a:rPr>
              <a:t>YouHuan</a:t>
            </a:r>
            <a:endParaRPr lang="en-US" altLang="en-US" sz="3600" dirty="0">
              <a:ea typeface="MS PGothic" panose="020B0600070205080204" pitchFamily="34" charset="-128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>
                <a:ea typeface="MS PGothic" panose="020B0600070205080204" pitchFamily="34" charset="-128"/>
              </a:rPr>
              <a:t>(24100710)</a:t>
            </a:r>
            <a:endParaRPr lang="en-US" altLang="en-US" sz="2800" dirty="0">
              <a:ea typeface="MS PGothic" panose="020B0600070205080204" pitchFamily="34" charset="-128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2800" dirty="0">
              <a:ea typeface="MS PGothic" panose="020B0600070205080204" pitchFamily="34" charset="-128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ea typeface="MS PGothic" panose="020B0600070205080204" pitchFamily="34" charset="-128"/>
              </a:rPr>
              <a:t>Supervisor: Dr. Ng Wei Chien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E45A97-9E98-4BEB-AE3F-5815CA0F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4CC7-71C4-43A2-A727-A4D2CF4D15CE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309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8057">
        <p:fade/>
      </p:transition>
    </mc:Choice>
    <mc:Fallback xmlns="">
      <p:transition spd="med" advTm="3805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A8D1-62CE-48CA-AFAA-0E1FB783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lnSpc>
                <a:spcPts val="4400"/>
              </a:lnSpc>
              <a:buNone/>
            </a:pPr>
            <a:r>
              <a:rPr lang="en-US" altLang="zh-CN" b="1">
                <a:ea typeface="Syne Bold" pitchFamily="34" charset="-122"/>
                <a:cs typeface="Syne Bold" pitchFamily="34" charset="-120"/>
              </a:rPr>
              <a:t>Research Objectives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559C8-270E-42F3-AF53-75008C1C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4CC7-71C4-43A2-A727-A4D2CF4D15CE}" type="slidenum">
              <a:rPr lang="en-MY" smtClean="0"/>
              <a:t>2</a:t>
            </a:fld>
            <a:endParaRPr lang="en-MY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03A2B0-3A85-E7BB-023A-FA7159647823}"/>
              </a:ext>
            </a:extLst>
          </p:cNvPr>
          <p:cNvSpPr/>
          <p:nvPr/>
        </p:nvSpPr>
        <p:spPr>
          <a:xfrm>
            <a:off x="1229007" y="1253002"/>
            <a:ext cx="228660" cy="142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Syne Light" pitchFamily="34" charset="-122"/>
                <a:cs typeface="Syne Light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9645F5F-B840-2E19-9E38-12B2B0C99A20}"/>
              </a:ext>
            </a:extLst>
          </p:cNvPr>
          <p:cNvSpPr/>
          <p:nvPr/>
        </p:nvSpPr>
        <p:spPr>
          <a:xfrm>
            <a:off x="1229007" y="1554467"/>
            <a:ext cx="9125026" cy="1440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zh-CN" altLang="en-US">
              <a:latin typeface="+mn-lt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FD47DE0-CA15-67F7-5DC3-16E158A305DF}"/>
              </a:ext>
            </a:extLst>
          </p:cNvPr>
          <p:cNvSpPr/>
          <p:nvPr/>
        </p:nvSpPr>
        <p:spPr>
          <a:xfrm>
            <a:off x="1229007" y="1695558"/>
            <a:ext cx="4415161" cy="16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ea typeface="Syne Bold" pitchFamily="34" charset="-122"/>
                <a:cs typeface="Syne Bold" pitchFamily="34" charset="-120"/>
              </a:rPr>
              <a:t>Build Hybrid Modeling System</a:t>
            </a:r>
            <a:endParaRPr lang="en-US" sz="17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4623444-9332-F98F-634C-4DC0549E7D82}"/>
              </a:ext>
            </a:extLst>
          </p:cNvPr>
          <p:cNvSpPr/>
          <p:nvPr/>
        </p:nvSpPr>
        <p:spPr>
          <a:xfrm>
            <a:off x="1229007" y="2090844"/>
            <a:ext cx="966816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Arimo" pitchFamily="34" charset="-122"/>
                <a:cs typeface="Arimo" pitchFamily="34" charset="-120"/>
              </a:rPr>
              <a:t>Construct a framework combining predictive accuracy and interpretability for profit direction prediction.</a:t>
            </a:r>
            <a:endParaRPr lang="en-US" sz="15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8731058-B28D-3922-F8A3-C75E511905F4}"/>
              </a:ext>
            </a:extLst>
          </p:cNvPr>
          <p:cNvSpPr/>
          <p:nvPr/>
        </p:nvSpPr>
        <p:spPr>
          <a:xfrm>
            <a:off x="1229007" y="2522647"/>
            <a:ext cx="228660" cy="142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Syne Light" pitchFamily="34" charset="-122"/>
                <a:cs typeface="Syne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D6C06188-A62C-F6AF-A5D7-3B7558D51BD3}"/>
              </a:ext>
            </a:extLst>
          </p:cNvPr>
          <p:cNvSpPr/>
          <p:nvPr/>
        </p:nvSpPr>
        <p:spPr>
          <a:xfrm>
            <a:off x="1229007" y="2824111"/>
            <a:ext cx="9125026" cy="1440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zh-CN" altLang="en-US">
              <a:latin typeface="+mn-lt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0F7F9D5-6C0C-6528-DAE8-2848A23A2B54}"/>
              </a:ext>
            </a:extLst>
          </p:cNvPr>
          <p:cNvSpPr/>
          <p:nvPr/>
        </p:nvSpPr>
        <p:spPr>
          <a:xfrm>
            <a:off x="1229007" y="2965202"/>
            <a:ext cx="3746582" cy="16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ea typeface="Syne Bold" pitchFamily="34" charset="-122"/>
                <a:cs typeface="Syne Bold" pitchFamily="34" charset="-120"/>
              </a:rPr>
              <a:t>Assess Financial Baseline</a:t>
            </a:r>
            <a:endParaRPr lang="en-US" sz="17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773AE1B-4020-266D-747B-5C33A1AE8742}"/>
              </a:ext>
            </a:extLst>
          </p:cNvPr>
          <p:cNvSpPr/>
          <p:nvPr/>
        </p:nvSpPr>
        <p:spPr>
          <a:xfrm>
            <a:off x="1229007" y="3360489"/>
            <a:ext cx="9125026" cy="182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Arimo" pitchFamily="34" charset="-122"/>
                <a:cs typeface="Arimo" pitchFamily="34" charset="-120"/>
              </a:rPr>
              <a:t>Evaluate whether financial ratios form a robust baseline prediction model.</a:t>
            </a:r>
            <a:endParaRPr lang="en-US" sz="15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CA2E01F-9953-B266-C63A-822D36CD1F8D}"/>
              </a:ext>
            </a:extLst>
          </p:cNvPr>
          <p:cNvSpPr/>
          <p:nvPr/>
        </p:nvSpPr>
        <p:spPr>
          <a:xfrm>
            <a:off x="1229008" y="3764783"/>
            <a:ext cx="228660" cy="142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Syne Light" pitchFamily="34" charset="-122"/>
                <a:cs typeface="Syne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98B0FCE-87DE-0615-A5F3-DEC1656B55CF}"/>
              </a:ext>
            </a:extLst>
          </p:cNvPr>
          <p:cNvSpPr/>
          <p:nvPr/>
        </p:nvSpPr>
        <p:spPr>
          <a:xfrm>
            <a:off x="1229008" y="4066247"/>
            <a:ext cx="9125026" cy="1440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zh-CN" altLang="en-US">
              <a:latin typeface="+mn-lt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DA437DB-79D2-F9BC-B09F-4DAB3F480DDB}"/>
              </a:ext>
            </a:extLst>
          </p:cNvPr>
          <p:cNvSpPr/>
          <p:nvPr/>
        </p:nvSpPr>
        <p:spPr>
          <a:xfrm>
            <a:off x="1229007" y="4207338"/>
            <a:ext cx="3481261" cy="16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ea typeface="Syne Bold" pitchFamily="34" charset="-122"/>
                <a:cs typeface="Syne Bold" pitchFamily="34" charset="-120"/>
              </a:rPr>
              <a:t>Compare Text Features</a:t>
            </a:r>
            <a:endParaRPr lang="en-US" sz="17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7046F2C-1876-0378-A30A-9C59E07BCC42}"/>
              </a:ext>
            </a:extLst>
          </p:cNvPr>
          <p:cNvSpPr/>
          <p:nvPr/>
        </p:nvSpPr>
        <p:spPr>
          <a:xfrm>
            <a:off x="1229008" y="4602624"/>
            <a:ext cx="912502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Arimo" pitchFamily="34" charset="-122"/>
                <a:cs typeface="Arimo" pitchFamily="34" charset="-120"/>
              </a:rPr>
              <a:t>Systematically compare incremental value of rule-based text and FinBERT semantic embeddings.</a:t>
            </a:r>
            <a:endParaRPr lang="en-US" sz="15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2CAE8B0-1C63-7AC5-D81A-E81DAC0FFD12}"/>
              </a:ext>
            </a:extLst>
          </p:cNvPr>
          <p:cNvSpPr/>
          <p:nvPr/>
        </p:nvSpPr>
        <p:spPr>
          <a:xfrm>
            <a:off x="1229007" y="5053027"/>
            <a:ext cx="228660" cy="142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Syne Light" pitchFamily="34" charset="-122"/>
                <a:cs typeface="Syne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713FA0A0-DC86-8000-E82D-50E02360669A}"/>
              </a:ext>
            </a:extLst>
          </p:cNvPr>
          <p:cNvSpPr/>
          <p:nvPr/>
        </p:nvSpPr>
        <p:spPr>
          <a:xfrm>
            <a:off x="1229007" y="5354491"/>
            <a:ext cx="9125026" cy="1440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zh-CN" altLang="en-US">
              <a:latin typeface="+mn-lt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39968F3-8DA0-CAAE-B7F2-A097818450D0}"/>
              </a:ext>
            </a:extLst>
          </p:cNvPr>
          <p:cNvSpPr/>
          <p:nvPr/>
        </p:nvSpPr>
        <p:spPr>
          <a:xfrm>
            <a:off x="1229007" y="5495582"/>
            <a:ext cx="3204529" cy="16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ea typeface="Syne Bold" pitchFamily="34" charset="-122"/>
                <a:cs typeface="Syne Bold" pitchFamily="34" charset="-120"/>
              </a:rPr>
              <a:t>Examine Model Roles</a:t>
            </a:r>
            <a:endParaRPr lang="en-US" sz="17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736D5FD-FB37-13AF-0DAF-0E43D8A42A14}"/>
              </a:ext>
            </a:extLst>
          </p:cNvPr>
          <p:cNvSpPr/>
          <p:nvPr/>
        </p:nvSpPr>
        <p:spPr>
          <a:xfrm>
            <a:off x="1229007" y="5890868"/>
            <a:ext cx="9125026" cy="182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ea typeface="Arimo" pitchFamily="34" charset="-122"/>
                <a:cs typeface="Arimo" pitchFamily="34" charset="-120"/>
              </a:rPr>
              <a:t>Analyze differences between white-box and black-box models under mixed feature sets.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1172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9443">
        <p:fade/>
      </p:transition>
    </mc:Choice>
    <mc:Fallback xmlns="">
      <p:transition spd="med" advTm="3944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916A-BBF1-4FF8-8028-80841464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E493C-20AA-4848-A37F-AC770F71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58225" y="6356351"/>
            <a:ext cx="2844800" cy="365125"/>
          </a:xfrm>
        </p:spPr>
        <p:txBody>
          <a:bodyPr/>
          <a:lstStyle/>
          <a:p>
            <a:fld id="{7D8E4CC7-71C4-43A2-A727-A4D2CF4D15CE}" type="slidenum">
              <a:rPr lang="en-MY" sz="1600" smtClean="0">
                <a:latin typeface="+mn-lt"/>
              </a:rPr>
              <a:t>3</a:t>
            </a:fld>
            <a:endParaRPr lang="en-MY" sz="1600">
              <a:latin typeface="+mn-lt"/>
            </a:endParaRPr>
          </a:p>
        </p:txBody>
      </p:sp>
      <p:pic>
        <p:nvPicPr>
          <p:cNvPr id="3" name="Image 1">
            <a:extLst>
              <a:ext uri="{FF2B5EF4-FFF2-40B4-BE49-F238E27FC236}">
                <a16:creationId xmlns:a16="http://schemas.microsoft.com/office/drawing/2014/main" id="{83F2F34F-D1E0-B666-A29C-71869E60048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7918" y="1196019"/>
            <a:ext cx="903992" cy="1308835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EBE2468-AB48-C5C0-DEB6-1F7A80FCC25A}"/>
              </a:ext>
            </a:extLst>
          </p:cNvPr>
          <p:cNvSpPr/>
          <p:nvPr/>
        </p:nvSpPr>
        <p:spPr>
          <a:xfrm>
            <a:off x="1624620" y="1256940"/>
            <a:ext cx="264188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ea typeface="Syne Bold" pitchFamily="34" charset="-122"/>
                <a:cs typeface="Syne Bold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8737F62-D5B8-155B-1820-07B52D2DE2C4}"/>
              </a:ext>
            </a:extLst>
          </p:cNvPr>
          <p:cNvSpPr/>
          <p:nvPr/>
        </p:nvSpPr>
        <p:spPr>
          <a:xfrm>
            <a:off x="1624620" y="1637562"/>
            <a:ext cx="8674410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Financial data from CSMAR, MD&amp;A text from CNINFO, FinBERT embeddings with PCA dimensionality reduction (1-50 components).</a:t>
            </a:r>
            <a:endParaRPr lang="en-US" sz="1600" dirty="0"/>
          </a:p>
        </p:txBody>
      </p:sp>
      <p:pic>
        <p:nvPicPr>
          <p:cNvPr id="8" name="Image 2">
            <a:extLst>
              <a:ext uri="{FF2B5EF4-FFF2-40B4-BE49-F238E27FC236}">
                <a16:creationId xmlns:a16="http://schemas.microsoft.com/office/drawing/2014/main" id="{25953537-0AB4-C94D-FAC2-10C7E19D541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7918" y="2720027"/>
            <a:ext cx="903992" cy="130883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F72CEA5A-4D0D-884B-FD8B-8E69DC4B4EE9}"/>
              </a:ext>
            </a:extLst>
          </p:cNvPr>
          <p:cNvSpPr/>
          <p:nvPr/>
        </p:nvSpPr>
        <p:spPr>
          <a:xfrm>
            <a:off x="1624620" y="2707665"/>
            <a:ext cx="291288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ea typeface="Syne Bold" pitchFamily="34" charset="-122"/>
                <a:cs typeface="Syne Bold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59BF4D4-1466-7633-40E7-A29434A8B4A5}"/>
              </a:ext>
            </a:extLst>
          </p:cNvPr>
          <p:cNvSpPr/>
          <p:nvPr/>
        </p:nvSpPr>
        <p:spPr>
          <a:xfrm>
            <a:off x="1624620" y="3141291"/>
            <a:ext cx="665998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23 financial ratios, 5 rule-based text features, FinBERT semantic embeddings. RFE for feature selection in unified pool.</a:t>
            </a:r>
            <a:endParaRPr lang="en-US" sz="1600" dirty="0"/>
          </a:p>
        </p:txBody>
      </p:sp>
      <p:pic>
        <p:nvPicPr>
          <p:cNvPr id="11" name="Image 3">
            <a:extLst>
              <a:ext uri="{FF2B5EF4-FFF2-40B4-BE49-F238E27FC236}">
                <a16:creationId xmlns:a16="http://schemas.microsoft.com/office/drawing/2014/main" id="{B8CA518C-67DB-5C55-4E7D-8BD1B11308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7918" y="4244035"/>
            <a:ext cx="903992" cy="1234108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0F69CBD-A7B9-5C89-02A5-5424C01FE7E3}"/>
              </a:ext>
            </a:extLst>
          </p:cNvPr>
          <p:cNvSpPr/>
          <p:nvPr/>
        </p:nvSpPr>
        <p:spPr>
          <a:xfrm>
            <a:off x="1624620" y="4244035"/>
            <a:ext cx="264188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ea typeface="Syne Bold" pitchFamily="34" charset="-122"/>
                <a:cs typeface="Syne Bold" pitchFamily="34" charset="-120"/>
              </a:rPr>
              <a:t>Model System</a:t>
            </a: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5F4B8BC-CAD5-9B3E-62B4-29A184CA9B6C}"/>
              </a:ext>
            </a:extLst>
          </p:cNvPr>
          <p:cNvSpPr/>
          <p:nvPr/>
        </p:nvSpPr>
        <p:spPr>
          <a:xfrm>
            <a:off x="1624620" y="4686753"/>
            <a:ext cx="6659980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White-box (Logistic Regression, EBM) and black-box models (Random Forest, XGBoost, LightGBM, CatBoost, SVM).</a:t>
            </a:r>
            <a:endParaRPr lang="en-US" sz="16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CF9EE4E-B20A-FBB2-B23E-219CD22FED98}"/>
              </a:ext>
            </a:extLst>
          </p:cNvPr>
          <p:cNvSpPr/>
          <p:nvPr/>
        </p:nvSpPr>
        <p:spPr>
          <a:xfrm>
            <a:off x="950937" y="5850958"/>
            <a:ext cx="8591824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Time-based data split: training (≤2019), validation (2020-2022), test (≥2023). Primary metric: PR-AUC. Joint optimization of FinBERT dimensions and feature count through 2D grid search.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4035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1833">
        <p:fade/>
      </p:transition>
    </mc:Choice>
    <mc:Fallback xmlns="">
      <p:transition spd="med" advTm="191833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2CD6-10FC-48A4-9FE6-A7AF3C37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lnSpc>
                <a:spcPts val="4850"/>
              </a:lnSpc>
              <a:buNone/>
            </a:pPr>
            <a:r>
              <a:rPr lang="en-US" altLang="zh-CN" b="1">
                <a:ea typeface="Syne Bold" pitchFamily="34" charset="-122"/>
                <a:cs typeface="Syne Bold" pitchFamily="34" charset="-120"/>
              </a:rPr>
              <a:t>Experimental Design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7F13C-6AC7-48A6-AF41-E1772AB48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4CC7-71C4-43A2-A727-A4D2CF4D15CE}" type="slidenum">
              <a:rPr lang="en-MY" smtClean="0"/>
              <a:t>4</a:t>
            </a:fld>
            <a:endParaRPr lang="en-MY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91D565-9A93-7D59-D95E-56E63354E13B}"/>
              </a:ext>
            </a:extLst>
          </p:cNvPr>
          <p:cNvSpPr/>
          <p:nvPr/>
        </p:nvSpPr>
        <p:spPr>
          <a:xfrm>
            <a:off x="449680" y="1942688"/>
            <a:ext cx="266209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ea typeface="Syne Bold" pitchFamily="34" charset="-122"/>
                <a:cs typeface="Syne Bold" pitchFamily="34" charset="-120"/>
              </a:rPr>
              <a:t>Incremental Experiments</a:t>
            </a:r>
            <a:endParaRPr lang="en-US" sz="1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4332185-0685-AA5A-D270-77C5B20DA409}"/>
              </a:ext>
            </a:extLst>
          </p:cNvPr>
          <p:cNvSpPr/>
          <p:nvPr/>
        </p:nvSpPr>
        <p:spPr>
          <a:xfrm>
            <a:off x="449680" y="2460134"/>
            <a:ext cx="304979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FS1: Financial ratios only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8642235-BEAB-BBA2-1D8B-C9B68E81FD7D}"/>
              </a:ext>
            </a:extLst>
          </p:cNvPr>
          <p:cNvSpPr/>
          <p:nvPr/>
        </p:nvSpPr>
        <p:spPr>
          <a:xfrm>
            <a:off x="449680" y="2868399"/>
            <a:ext cx="304979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FS2: FS1 + Rule-based text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0D28C27-B826-6CC3-5A10-F24B2AF58301}"/>
              </a:ext>
            </a:extLst>
          </p:cNvPr>
          <p:cNvSpPr/>
          <p:nvPr/>
        </p:nvSpPr>
        <p:spPr>
          <a:xfrm>
            <a:off x="449680" y="3276665"/>
            <a:ext cx="304979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FS3: FS2 + FinBERT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7723E11-A761-32A4-E63C-0D7ED4D88C22}"/>
              </a:ext>
            </a:extLst>
          </p:cNvPr>
          <p:cNvSpPr/>
          <p:nvPr/>
        </p:nvSpPr>
        <p:spPr>
          <a:xfrm>
            <a:off x="449680" y="3814894"/>
            <a:ext cx="304979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Measures marginal predictive contribution of each information type.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350EFB4-6397-42C3-7A93-4D439DC2FD14}"/>
              </a:ext>
            </a:extLst>
          </p:cNvPr>
          <p:cNvSpPr/>
          <p:nvPr/>
        </p:nvSpPr>
        <p:spPr>
          <a:xfrm>
            <a:off x="4096671" y="1942688"/>
            <a:ext cx="226571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ea typeface="Syne Bold" pitchFamily="34" charset="-122"/>
                <a:cs typeface="Syne Bold" pitchFamily="34" charset="-120"/>
              </a:rPr>
              <a:t>Ablation Experiments</a:t>
            </a:r>
            <a:endParaRPr lang="en-US" sz="19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03DBA57-7A5A-A510-60D8-4B1E2C64ACCE}"/>
              </a:ext>
            </a:extLst>
          </p:cNvPr>
          <p:cNvSpPr/>
          <p:nvPr/>
        </p:nvSpPr>
        <p:spPr>
          <a:xfrm>
            <a:off x="4096672" y="2460134"/>
            <a:ext cx="304979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Remove rule-based text</a:t>
            </a:r>
            <a:endParaRPr lang="en-US" sz="16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6BEA212-58CD-A968-81B2-835C42AC8F7A}"/>
              </a:ext>
            </a:extLst>
          </p:cNvPr>
          <p:cNvSpPr/>
          <p:nvPr/>
        </p:nvSpPr>
        <p:spPr>
          <a:xfrm>
            <a:off x="4096672" y="2868399"/>
            <a:ext cx="304979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Remove FinBERT features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D91223A-4419-25CE-B74F-67B48B5CD974}"/>
              </a:ext>
            </a:extLst>
          </p:cNvPr>
          <p:cNvSpPr/>
          <p:nvPr/>
        </p:nvSpPr>
        <p:spPr>
          <a:xfrm>
            <a:off x="4096672" y="3790318"/>
            <a:ext cx="304979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Identifies independent contributions and potential redundancy in full model.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A006C74-6D7B-254A-6C30-28501E35A391}"/>
              </a:ext>
            </a:extLst>
          </p:cNvPr>
          <p:cNvSpPr/>
          <p:nvPr/>
        </p:nvSpPr>
        <p:spPr>
          <a:xfrm>
            <a:off x="8108049" y="1932823"/>
            <a:ext cx="244834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ea typeface="Syne Bold" pitchFamily="34" charset="-122"/>
                <a:cs typeface="Syne Bold" pitchFamily="34" charset="-120"/>
              </a:rPr>
              <a:t>Interpretability Analysis</a:t>
            </a:r>
            <a:endParaRPr lang="en-US" sz="19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4E5956C-D8CD-6CD0-0546-4136CA6AC3D1}"/>
              </a:ext>
            </a:extLst>
          </p:cNvPr>
          <p:cNvSpPr/>
          <p:nvPr/>
        </p:nvSpPr>
        <p:spPr>
          <a:xfrm>
            <a:off x="8108049" y="2450269"/>
            <a:ext cx="31542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EBM global importance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82C1D17-6F5F-9B3C-3716-B8087FD5856D}"/>
              </a:ext>
            </a:extLst>
          </p:cNvPr>
          <p:cNvSpPr/>
          <p:nvPr/>
        </p:nvSpPr>
        <p:spPr>
          <a:xfrm>
            <a:off x="8108049" y="2858534"/>
            <a:ext cx="31542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Feature type aggregation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102424E5-1977-7C6C-0211-9286DAE67309}"/>
              </a:ext>
            </a:extLst>
          </p:cNvPr>
          <p:cNvSpPr/>
          <p:nvPr/>
        </p:nvSpPr>
        <p:spPr>
          <a:xfrm>
            <a:off x="8108049" y="3266800"/>
            <a:ext cx="3154220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Shape functions</a:t>
            </a:r>
            <a:endParaRPr lang="en-US" sz="16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2E6804A-9EA6-D032-685E-AFC0E8D03892}"/>
              </a:ext>
            </a:extLst>
          </p:cNvPr>
          <p:cNvSpPr/>
          <p:nvPr/>
        </p:nvSpPr>
        <p:spPr>
          <a:xfrm>
            <a:off x="8108049" y="3790318"/>
            <a:ext cx="3154220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Reveals model decision-making mechanisms and feature utilization patterns.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6527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64318">
        <p:fade/>
      </p:transition>
    </mc:Choice>
    <mc:Fallback xmlns="">
      <p:transition spd="med" advTm="164318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BF13-4922-A393-97DA-0B510510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2424B-D784-EC8D-76FF-3B9F199F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4CC7-71C4-43A2-A727-A4D2CF4D15CE}" type="slidenum">
              <a:rPr lang="en-MY" smtClean="0"/>
              <a:t>5</a:t>
            </a:fld>
            <a:endParaRPr lang="en-MY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ACD87AB-22C8-7297-1D70-4318832A6F98}"/>
              </a:ext>
            </a:extLst>
          </p:cNvPr>
          <p:cNvSpPr/>
          <p:nvPr/>
        </p:nvSpPr>
        <p:spPr>
          <a:xfrm>
            <a:off x="1859835" y="1318356"/>
            <a:ext cx="2314932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00"/>
              </a:lnSpc>
              <a:buNone/>
            </a:pPr>
            <a:r>
              <a:rPr lang="en-US" sz="5400" b="1">
                <a:ea typeface="Syne Bold" pitchFamily="34" charset="-122"/>
                <a:cs typeface="Syne Bold" pitchFamily="34" charset="-120"/>
              </a:rPr>
              <a:t>60.3%</a:t>
            </a:r>
            <a:endParaRPr lang="en-US" sz="5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E3A246E-275C-8533-A843-57638E554CF1}"/>
              </a:ext>
            </a:extLst>
          </p:cNvPr>
          <p:cNvSpPr/>
          <p:nvPr/>
        </p:nvSpPr>
        <p:spPr>
          <a:xfrm>
            <a:off x="1859835" y="2271213"/>
            <a:ext cx="231493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ea typeface="Syne Bold" pitchFamily="34" charset="-122"/>
                <a:cs typeface="Syne Bold" pitchFamily="34" charset="-120"/>
              </a:rPr>
              <a:t>ROA PR-AUC</a:t>
            </a:r>
            <a:endParaRPr lang="en-US" sz="19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9C8FD52-3205-498E-0416-D264C8090E09}"/>
              </a:ext>
            </a:extLst>
          </p:cNvPr>
          <p:cNvSpPr/>
          <p:nvPr/>
        </p:nvSpPr>
        <p:spPr>
          <a:xfrm>
            <a:off x="1705048" y="2704838"/>
            <a:ext cx="2731536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EBM achieved best performance with financial ratios dominating; text information showed limited marginal contribution.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022F245-F61E-F31C-69F5-CA70EF20F4B9}"/>
              </a:ext>
            </a:extLst>
          </p:cNvPr>
          <p:cNvSpPr/>
          <p:nvPr/>
        </p:nvSpPr>
        <p:spPr>
          <a:xfrm>
            <a:off x="4436585" y="1318356"/>
            <a:ext cx="2314932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ea typeface="Syne Bold" pitchFamily="34" charset="-122"/>
                <a:cs typeface="Syne Bold" pitchFamily="34" charset="-120"/>
              </a:rPr>
              <a:t>63.7%</a:t>
            </a:r>
            <a:endParaRPr lang="en-US" sz="5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1AF03F7-8D9C-BD60-A168-E580F6DF5006}"/>
              </a:ext>
            </a:extLst>
          </p:cNvPr>
          <p:cNvSpPr/>
          <p:nvPr/>
        </p:nvSpPr>
        <p:spPr>
          <a:xfrm>
            <a:off x="4436585" y="2271213"/>
            <a:ext cx="231493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ea typeface="Syne Bold" pitchFamily="34" charset="-122"/>
                <a:cs typeface="Syne Bold" pitchFamily="34" charset="-120"/>
              </a:rPr>
              <a:t>ROE PR-AUC</a:t>
            </a:r>
            <a:endParaRPr lang="en-US" sz="1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591816E-FDF6-2B90-09AB-78EA09361EAC}"/>
              </a:ext>
            </a:extLst>
          </p:cNvPr>
          <p:cNvSpPr/>
          <p:nvPr/>
        </p:nvSpPr>
        <p:spPr>
          <a:xfrm>
            <a:off x="4640752" y="2704838"/>
            <a:ext cx="2440692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SVM performed best; FinBERT provided meaningful incremental value in specific modeling conditions.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10D1252-3ED1-1B0B-CD4E-18490E0854C3}"/>
              </a:ext>
            </a:extLst>
          </p:cNvPr>
          <p:cNvSpPr/>
          <p:nvPr/>
        </p:nvSpPr>
        <p:spPr>
          <a:xfrm>
            <a:off x="7013336" y="1318356"/>
            <a:ext cx="2314932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ea typeface="Syne Bold" pitchFamily="34" charset="-122"/>
                <a:cs typeface="Syne Bold" pitchFamily="34" charset="-120"/>
              </a:rPr>
              <a:t>55.7%</a:t>
            </a:r>
            <a:endParaRPr lang="en-US" sz="5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89335FB-D882-D6F4-FB15-1CB3B50C52A8}"/>
              </a:ext>
            </a:extLst>
          </p:cNvPr>
          <p:cNvSpPr/>
          <p:nvPr/>
        </p:nvSpPr>
        <p:spPr>
          <a:xfrm>
            <a:off x="7013336" y="2271213"/>
            <a:ext cx="2314932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ea typeface="Syne Bold" pitchFamily="34" charset="-122"/>
                <a:cs typeface="Syne Bold" pitchFamily="34" charset="-120"/>
              </a:rPr>
              <a:t>Tobin's Q PR-AUC</a:t>
            </a:r>
            <a:endParaRPr lang="en-US" sz="1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8A6A336-0D0E-F77C-A9DD-18BA516D6517}"/>
              </a:ext>
            </a:extLst>
          </p:cNvPr>
          <p:cNvSpPr/>
          <p:nvPr/>
        </p:nvSpPr>
        <p:spPr>
          <a:xfrm>
            <a:off x="7343263" y="2693977"/>
            <a:ext cx="2844799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EBM significantly outperformed alternatives; semantic information played more prominent supplementary role.</a:t>
            </a: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42D583B-5F82-D4C9-FF54-626C2462DC8E}"/>
              </a:ext>
            </a:extLst>
          </p:cNvPr>
          <p:cNvSpPr/>
          <p:nvPr/>
        </p:nvSpPr>
        <p:spPr>
          <a:xfrm>
            <a:off x="1705048" y="4380047"/>
            <a:ext cx="7468553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ea typeface="Arimo" pitchFamily="34" charset="-122"/>
                <a:cs typeface="Arimo" pitchFamily="34" charset="-120"/>
              </a:rPr>
              <a:t>Optimal configurations varied by task: ROA (d=25, k=22), ROE (d=38, k=28), Tobin's Q (d=2, k=15). Financial indicators contributed 53-64% of global importance across tasks, with text information providing conditional, task-specific supplements rather than universal predictive power.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2799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7883">
        <p:fade/>
      </p:transition>
    </mc:Choice>
    <mc:Fallback xmlns="">
      <p:transition spd="med" advTm="137883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A0B3-55B7-9F81-4F0D-0069CB9D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Conclusion and Thank You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3EE6-5C2D-9C2F-83F6-6AF352089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marL="0" indent="0" algn="ctr">
              <a:buNone/>
            </a:pPr>
            <a:r>
              <a:rPr lang="en-US" sz="4000" b="1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0E4BD-61ED-EF52-FBC4-77D641EF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E4CC7-71C4-43A2-A727-A4D2CF4D15CE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0590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214">
        <p:fade/>
      </p:transition>
    </mc:Choice>
    <mc:Fallback xmlns="">
      <p:transition spd="med" advTm="2214">
        <p:fade/>
      </p:transition>
    </mc:Fallback>
  </mc:AlternateContent>
</p:sld>
</file>

<file path=ppt/theme/theme1.xml><?xml version="1.0" encoding="utf-8"?>
<a:theme xmlns:a="http://schemas.openxmlformats.org/drawingml/2006/main" name="USM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SM THEME" id="{8E74E289-8402-455B-B355-EE4046DB2A83}" vid="{53232CD9-FFC7-44BA-8700-77006C8365BD}"/>
    </a:ext>
  </a:extLst>
</a:theme>
</file>

<file path=ppt/theme/theme2.xml><?xml version="1.0" encoding="utf-8"?>
<a:theme xmlns:a="http://schemas.openxmlformats.org/drawingml/2006/main" name="1_Presentation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3411</TotalTime>
  <Words>477</Words>
  <Application>Microsoft Office PowerPoint</Application>
  <PresentationFormat>宽屏</PresentationFormat>
  <Paragraphs>69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Arimo</vt:lpstr>
      <vt:lpstr>MS PGothic</vt:lpstr>
      <vt:lpstr>Syne Bold</vt:lpstr>
      <vt:lpstr>Syne Light</vt:lpstr>
      <vt:lpstr>Arial</vt:lpstr>
      <vt:lpstr>Calibri</vt:lpstr>
      <vt:lpstr>Times New Roman</vt:lpstr>
      <vt:lpstr>USM THEME</vt:lpstr>
      <vt:lpstr>1_Presentation2</vt:lpstr>
      <vt:lpstr>PowerPoint 演示文稿</vt:lpstr>
      <vt:lpstr>Research Objectives</vt:lpstr>
      <vt:lpstr>Methodology</vt:lpstr>
      <vt:lpstr>Experimental Design</vt:lpstr>
      <vt:lpstr>Results</vt:lpstr>
      <vt:lpstr>Conclusion and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 Wei Chien</dc:creator>
  <cp:lastModifiedBy>欢 尤</cp:lastModifiedBy>
  <cp:revision>74</cp:revision>
  <dcterms:created xsi:type="dcterms:W3CDTF">2020-12-27T18:03:37Z</dcterms:created>
  <dcterms:modified xsi:type="dcterms:W3CDTF">2025-12-30T13:29:53Z</dcterms:modified>
</cp:coreProperties>
</file>